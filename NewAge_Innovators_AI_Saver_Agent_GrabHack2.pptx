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20" y="-274319"/>
            <a:ext cx="6400800" cy="6400800"/>
          </a:xfrm>
          <a:prstGeom prst="ellipse">
            <a:avLst/>
          </a:prstGeom>
          <a:noFill/>
          <a:ln w="50800">
            <a:solidFill>
              <a:srgbClr val="00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548640"/>
            <a:ext cx="4754880" cy="4754880"/>
          </a:xfrm>
          <a:prstGeom prst="ellipse">
            <a:avLst/>
          </a:prstGeom>
          <a:noFill/>
          <a:ln w="50800">
            <a:solidFill>
              <a:srgbClr val="006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1280160"/>
            <a:ext cx="3291840" cy="3291840"/>
          </a:xfrm>
          <a:prstGeom prst="ellipse">
            <a:avLst/>
          </a:prstGeom>
          <a:noFill/>
          <a:ln w="50800">
            <a:solidFill>
              <a:srgbClr val="00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0" y="1645920"/>
            <a:ext cx="758952" cy="1463040"/>
          </a:xfrm>
          <a:prstGeom prst="rect">
            <a:avLst/>
          </a:prstGeom>
          <a:solidFill>
            <a:srgbClr val="00D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006E5E"/>
                </a:solidFill>
                <a:latin typeface="Calibri"/>
              </a:rPr>
              <a:t>GrabHack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46304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00A89C"/>
                </a:solidFill>
                <a:latin typeface="Calibri"/>
              </a:rPr>
              <a:t>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6E5E"/>
                </a:solidFill>
                <a:latin typeface="Calibri"/>
              </a:rPr>
              <a:t>Shaping the Future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63240"/>
            <a:ext cx="4754880" cy="36576"/>
          </a:xfrm>
          <a:prstGeom prst="rect">
            <a:avLst/>
          </a:prstGeom>
          <a:solidFill>
            <a:srgbClr val="00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E5E"/>
                </a:solidFill>
                <a:latin typeface="Calibri"/>
              </a:rPr>
              <a:t>NewAge Innovators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033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6E5E"/>
                </a:solidFill>
                <a:latin typeface="Calibri"/>
              </a:rPr>
              <a:t>AI Saver Agent for Gig Workers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37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6E5E"/>
                </a:solidFill>
                <a:latin typeface="Calibri"/>
              </a:rPr>
              <a:t>Grab 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663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14F"/>
                </a:solidFill>
                <a:latin typeface="Calibri"/>
              </a:rPr>
              <a:t>Grab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1663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E5E"/>
                </a:solidFill>
                <a:latin typeface="Calibri"/>
              </a:rPr>
              <a:t>GxS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09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6E5E"/>
                </a:solidFill>
                <a:latin typeface="Calibri"/>
              </a:rPr>
              <a:t>Platform Partner: unstop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"/>
            <a:ext cx="12188952" cy="27432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14F"/>
                </a:solidFill>
                <a:latin typeface="Calibri"/>
              </a:rPr>
              <a:t>Grab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5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6E5E"/>
                </a:solidFill>
                <a:latin typeface="Calibri"/>
              </a:rPr>
              <a:t>GrabHack 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48640"/>
            <a:ext cx="2560320" cy="25603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48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E5E"/>
                </a:solidFill>
                <a:latin typeface="Calibri"/>
              </a:rPr>
              <a:t>NewAge Innovators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A89C"/>
                </a:solidFill>
                <a:latin typeface="Calibri"/>
              </a:rPr>
              <a:t>AI Saver Agent for Gig Workers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11247120" cy="4572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68880"/>
            <a:ext cx="53035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68880"/>
            <a:ext cx="109728" cy="11887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06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E5E"/>
                </a:solidFill>
                <a:latin typeface="Calibri"/>
              </a:rPr>
              <a:t>Member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Role / Expertise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468880"/>
            <a:ext cx="53035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468880"/>
            <a:ext cx="109728" cy="11887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606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E5E"/>
                </a:solidFill>
                <a:latin typeface="Calibri"/>
              </a:rPr>
              <a:t>Member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Role / Expertise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31920"/>
            <a:ext cx="53035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109728" cy="11887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E5E"/>
                </a:solidFill>
                <a:latin typeface="Calibri"/>
              </a:rPr>
              <a:t>Member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Role / Expertise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931920"/>
            <a:ext cx="53035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3931920"/>
            <a:ext cx="109728" cy="118872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E5E"/>
                </a:solidFill>
                <a:latin typeface="Calibri"/>
              </a:rPr>
              <a:t>Member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Role / Expertise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"/>
            <a:ext cx="12188952" cy="27432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14F"/>
                </a:solidFill>
                <a:latin typeface="Calibri"/>
              </a:rPr>
              <a:t>Grab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5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6E5E"/>
                </a:solidFill>
                <a:latin typeface="Calibri"/>
              </a:rPr>
              <a:t>GrabHack 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48640"/>
            <a:ext cx="2560320" cy="25603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48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E5E"/>
                </a:solidFill>
                <a:latin typeface="Calibri"/>
              </a:rPr>
              <a:t>The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11247120" cy="4572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557784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5577840" cy="64008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20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E5E"/>
                </a:solidFill>
                <a:latin typeface="Calibri"/>
              </a:rPr>
              <a:t>⚡  Irregular 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317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Gig workers face unpredictable earnings, making it hard to plan savings or meet financial goals.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783080"/>
            <a:ext cx="557784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783080"/>
            <a:ext cx="5577840" cy="64008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920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E5E"/>
                </a:solidFill>
                <a:latin typeface="Calibri"/>
              </a:rPr>
              <a:t>⚡  No Safety 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3317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Lack of employer-backed benefits leaves gig workers exposed to financial shocks and emergencies.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31920"/>
            <a:ext cx="557784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5577840" cy="64008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E5E"/>
                </a:solidFill>
                <a:latin typeface="Calibri"/>
              </a:rPr>
              <a:t>⚡  Low Financial Literacy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59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Most gig workers have limited access to personalised financial guidance or smart savings tools.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3931920"/>
            <a:ext cx="557784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3931920"/>
            <a:ext cx="5577840" cy="64008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069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E5E"/>
                </a:solidFill>
                <a:latin typeface="Calibri"/>
              </a:rPr>
              <a:t>⚡  Missed Micro-Savings Opportunities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480559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High transaction volumes present untapped opportunities for automated, low-friction savings.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"/>
            <a:ext cx="12188952" cy="27432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14F"/>
                </a:solidFill>
                <a:latin typeface="Calibri"/>
              </a:rPr>
              <a:t>Grab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5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6E5E"/>
                </a:solidFill>
                <a:latin typeface="Calibri"/>
              </a:rPr>
              <a:t>GrabHack 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48640"/>
            <a:ext cx="2560320" cy="25603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48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6E5E"/>
                </a:solidFill>
                <a:latin typeface="Calibri"/>
              </a:rPr>
              <a:t>AI Saver Agent for Gig Workers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11247120" cy="4572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An intelligent, conversational AI agent embedded in Grab SuperApp that helps gig workers automatically save money in GXS Bank accounts using personalised micro-savings rules, behavioural nudges, and real-time income analytics.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365760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88920"/>
            <a:ext cx="91440" cy="150876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E5E"/>
                </a:solidFill>
                <a:latin typeface="Calibri"/>
              </a:rPr>
              <a:t>🤖  Smart Savings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Conversational AI understands income patterns and auto-saves based on configurable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2788920"/>
            <a:ext cx="365760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2788920"/>
            <a:ext cx="91440" cy="150876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E5E"/>
                </a:solidFill>
                <a:latin typeface="Calibri"/>
              </a:rPr>
              <a:t>📊  Income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246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Real-time dashboard of earnings, spending trends and savings progress across Grab rides &amp; deliveries.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84464" y="2788920"/>
            <a:ext cx="365760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84464" y="2788920"/>
            <a:ext cx="91440" cy="150876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E5E"/>
                </a:solidFill>
                <a:latin typeface="Calibri"/>
              </a:rPr>
              <a:t>🎯  Goal-Based Savings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246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Set savings goals (emergency fund, insurance, festival) with AI-driven milestones &amp; motivation.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0560"/>
            <a:ext cx="365760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91440" cy="150876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E5E"/>
                </a:solidFill>
                <a:latin typeface="Calibri"/>
              </a:rPr>
              <a:t>💡  Behavioural Nudges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377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Context-aware notifications at the right moment – post-trip, payday, or low-activity periods.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4480560"/>
            <a:ext cx="365760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0832" y="4480560"/>
            <a:ext cx="91440" cy="150876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E5E"/>
                </a:solidFill>
                <a:latin typeface="Calibri"/>
              </a:rPr>
              <a:t>🔒  GXS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9377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Seamless one-tap deposit into GXS savings pots with competitive interest rates.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84464" y="4480560"/>
            <a:ext cx="365760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84464" y="4480560"/>
            <a:ext cx="91440" cy="150876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E5E"/>
                </a:solidFill>
                <a:latin typeface="Calibri"/>
              </a:rPr>
              <a:t>🏆  Gamification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49377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Streaks, badges and leaderboards to drive consistent saving habits among gig workers.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"/>
            <a:ext cx="12188952" cy="27432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14F"/>
                </a:solidFill>
                <a:latin typeface="Calibri"/>
              </a:rPr>
              <a:t>Grab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5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6E5E"/>
                </a:solidFill>
                <a:latin typeface="Calibri"/>
              </a:rPr>
              <a:t>GrabHack 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48640"/>
            <a:ext cx="2560320" cy="25603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48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TECHNICAL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E5E"/>
                </a:solidFill>
                <a:latin typeface="Calibri"/>
              </a:rPr>
              <a:t>How It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11247120" cy="4572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4712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137160" cy="86868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8288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9C"/>
                </a:solidFill>
                <a:latin typeface="Calibri"/>
              </a:rPr>
              <a:t>User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1945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Grab SuperApp (Driver / Delivery Partner)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651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A89C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62072"/>
            <a:ext cx="1124712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862072"/>
            <a:ext cx="137160" cy="868680"/>
          </a:xfrm>
          <a:prstGeom prst="rect">
            <a:avLst/>
          </a:prstGeom>
          <a:solidFill>
            <a:srgbClr val="00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077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E5E"/>
                </a:solidFill>
                <a:latin typeface="Calibri"/>
              </a:rPr>
              <a:t>AI Agent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735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Conversational Agent · Income Analyser · Nudge Engine · Goal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7307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A89C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41063"/>
            <a:ext cx="1124712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41063"/>
            <a:ext cx="137160" cy="868680"/>
          </a:xfrm>
          <a:prstGeom prst="rect">
            <a:avLst/>
          </a:prstGeom>
          <a:solidFill>
            <a:srgbClr val="00D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8678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D0"/>
                </a:solidFill>
                <a:latin typeface="Calibri"/>
              </a:rPr>
              <a:t>Data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525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Grab Trip Data · GXS Transaction API · User Profile &amp; Preferences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8097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A89C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0056"/>
            <a:ext cx="1124712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20056"/>
            <a:ext cx="137160" cy="868680"/>
          </a:xfrm>
          <a:prstGeom prst="rect">
            <a:avLst/>
          </a:prstGeom>
          <a:solidFill>
            <a:srgbClr val="00B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657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14F"/>
                </a:solidFill>
                <a:latin typeface="Calibri"/>
              </a:rPr>
              <a:t>Banking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315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GXS Bank API – Savings Pots · Interest Engine · KYC /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807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6E5E"/>
                </a:solidFill>
                <a:latin typeface="Calibri"/>
              </a:rPr>
              <a:t>Tech Stack: Python · FastAPI · LangChain / Claude API · PostgreSQL · Redis · React Native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"/>
            <a:ext cx="12188952" cy="27432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14F"/>
                </a:solidFill>
                <a:latin typeface="Calibri"/>
              </a:rPr>
              <a:t>Grab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5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6E5E"/>
                </a:solidFill>
                <a:latin typeface="Calibri"/>
              </a:rPr>
              <a:t>GrabHack 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48640"/>
            <a:ext cx="2560320" cy="25603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48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IMPACT &amp; VALUE PROPOSITION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E5E"/>
                </a:solidFill>
                <a:latin typeface="Calibri"/>
              </a:rPr>
              <a:t>Why It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11247120" cy="4572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2606040" cy="1828800"/>
          </a:xfrm>
          <a:prstGeom prst="rect">
            <a:avLst/>
          </a:prstGeom>
          <a:solidFill>
            <a:srgbClr val="00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659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8F000"/>
                </a:solidFill>
                <a:latin typeface="Calibri"/>
              </a:rPr>
              <a:t>3M+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Grab gig workers
across SEA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6432" y="1828800"/>
            <a:ext cx="2606040" cy="1828800"/>
          </a:xfrm>
          <a:prstGeom prst="rect">
            <a:avLst/>
          </a:prstGeom>
          <a:solidFill>
            <a:srgbClr val="00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9659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8F000"/>
                </a:solidFill>
                <a:latin typeface="Calibri"/>
              </a:rP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7889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Average income
volatility for gig workers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64224" y="1828800"/>
            <a:ext cx="2606040" cy="1828800"/>
          </a:xfrm>
          <a:prstGeom prst="rect">
            <a:avLst/>
          </a:prstGeom>
          <a:solidFill>
            <a:srgbClr val="00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9659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8F000"/>
                </a:solidFill>
                <a:latin typeface="Calibri"/>
              </a:rPr>
              <a:t>8x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7889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Higher savings rate
with AI nudging (research)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72016" y="1828800"/>
            <a:ext cx="2606040" cy="1828800"/>
          </a:xfrm>
          <a:prstGeom prst="rect">
            <a:avLst/>
          </a:prstGeom>
          <a:solidFill>
            <a:srgbClr val="00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3456" y="19659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8F000"/>
                </a:solidFill>
                <a:latin typeface="Calibri"/>
              </a:rPr>
              <a:t>$500M+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7889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Potential GXS
deposit growth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5486400" cy="2331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931920"/>
            <a:ext cx="5486400" cy="7315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416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E5E"/>
                </a:solidFill>
                <a:latin typeface="Calibri"/>
              </a:rPr>
              <a:t>For Gig Workers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98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Build financial resilience with zero friction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01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Personalised savings plans aligned to income cycles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04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Access to GXS high-yield savings accounts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5486400" cy="2331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931920"/>
            <a:ext cx="5486400" cy="7315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0416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E5E"/>
                </a:solidFill>
                <a:latin typeface="Calibri"/>
              </a:rPr>
              <a:t>For Grab / GxS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498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Increase GXS deposit book &amp; ARPU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01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Deepen platform stickiness &amp; worker loyalty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504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ESG impact: financial inclusion for underserved segment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"/>
            <a:ext cx="12188952" cy="27432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14F"/>
                </a:solidFill>
                <a:latin typeface="Calibri"/>
              </a:rPr>
              <a:t>Grab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5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6E5E"/>
                </a:solidFill>
                <a:latin typeface="Calibri"/>
              </a:rPr>
              <a:t>GrabHack 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48640"/>
            <a:ext cx="2560320" cy="256032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48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GO-TO-MARKET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E5E"/>
                </a:solidFill>
                <a:latin typeface="Calibri"/>
              </a:rPr>
              <a:t>Roadmap &amp; Roll-out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11247120" cy="4572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361188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828800"/>
            <a:ext cx="3611880" cy="731520"/>
          </a:xfrm>
          <a:prstGeom prst="rect">
            <a:avLst/>
          </a:prstGeom>
          <a:solidFill>
            <a:srgbClr val="00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74519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F000"/>
                </a:solidFill>
                <a:latin typeface="Calibri"/>
              </a:rPr>
              <a:t>Phase 1
Month 1–3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060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E5E"/>
                </a:solidFill>
                <a:latin typeface="Calibri"/>
              </a:rPr>
              <a:t>MVP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63240"/>
            <a:ext cx="3337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5,000 Grab drivers in Singapore
• Basic income analytics
• Manual savings rules
• GXS pot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657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A89C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1828800"/>
            <a:ext cx="361188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6552" y="1828800"/>
            <a:ext cx="3611880" cy="731520"/>
          </a:xfrm>
          <a:prstGeom prst="rect">
            <a:avLst/>
          </a:prstGeom>
          <a:solidFill>
            <a:srgbClr val="00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874519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F000"/>
                </a:solidFill>
                <a:latin typeface="Calibri"/>
              </a:rPr>
              <a:t>Phase 2
Month 4–6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6060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E5E"/>
                </a:solidFill>
                <a:latin typeface="Calibri"/>
              </a:rPr>
              <a:t>AI Enhancement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063240"/>
            <a:ext cx="3337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AI agent with natural language
• Smart micro-savings automation
• Goal-based savings pots
• Nudge engine 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2" y="3657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A89C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0184" y="1828800"/>
            <a:ext cx="361188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30184" y="1828800"/>
            <a:ext cx="3611880" cy="731520"/>
          </a:xfrm>
          <a:prstGeom prst="rect">
            <a:avLst/>
          </a:prstGeom>
          <a:solidFill>
            <a:srgbClr val="00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7344" y="1874519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F000"/>
                </a:solidFill>
                <a:latin typeface="Calibri"/>
              </a:rPr>
              <a:t>Phase 3
Month 7–12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26060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E5E"/>
                </a:solidFill>
                <a:latin typeface="Calibri"/>
              </a:rPr>
              <a:t>Scale &amp; Expand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3063240"/>
            <a:ext cx="3337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All Grab gig workers in SG
• Expand to MY, ID, PH
• Gamification &amp; community
• Insurance micro-products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457200"/>
            <a:ext cx="6400800" cy="6400800"/>
          </a:xfrm>
          <a:prstGeom prst="ellipse">
            <a:avLst/>
          </a:prstGeom>
          <a:noFill/>
          <a:ln w="38100">
            <a:solidFill>
              <a:srgbClr val="00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F000"/>
                </a:solidFill>
                <a:latin typeface="Calibri"/>
              </a:rPr>
              <a:t>GrabHack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NewAge Innovators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D4D0"/>
                </a:solidFill>
                <a:latin typeface="Calibri"/>
              </a:rPr>
              <a:t>AI Saver Agent for Gig Workers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4572000" cy="54864"/>
          </a:xfrm>
          <a:prstGeom prst="rect">
            <a:avLst/>
          </a:prstGeom>
          <a:solidFill>
            <a:srgbClr val="C8F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Empowering gig workers to save smarter,
live better, and build financial resilience.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F000"/>
                </a:solidFill>
                <a:latin typeface="Calibr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09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6E5E"/>
                </a:solidFill>
                <a:latin typeface="Calibri"/>
              </a:rPr>
              <a:t>Grab  |  GxS  |  unstop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