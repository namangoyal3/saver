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12080" y="-228600"/>
            <a:ext cx="6949440" cy="6949440"/>
          </a:xfrm>
          <a:prstGeom prst="ellipse">
            <a:avLst/>
          </a:prstGeom>
          <a:noFill/>
          <a:ln w="50800">
            <a:solidFill>
              <a:srgbClr val="00D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126480" y="685800"/>
            <a:ext cx="5120640" cy="5120640"/>
          </a:xfrm>
          <a:prstGeom prst="ellipse">
            <a:avLst/>
          </a:prstGeom>
          <a:noFill/>
          <a:ln w="50800">
            <a:solidFill>
              <a:srgbClr val="00A8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40880" y="1600199"/>
            <a:ext cx="3291840" cy="3291840"/>
          </a:xfrm>
          <a:prstGeom prst="ellipse">
            <a:avLst/>
          </a:prstGeom>
          <a:noFill/>
          <a:ln w="44450">
            <a:solidFill>
              <a:srgbClr val="00D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0" y="2423160"/>
            <a:ext cx="1645920" cy="1645920"/>
          </a:xfrm>
          <a:prstGeom prst="ellipse">
            <a:avLst/>
          </a:prstGeom>
          <a:noFill/>
          <a:ln w="38100">
            <a:solidFill>
              <a:srgbClr val="00A8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r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384280" y="1920240"/>
            <a:ext cx="804672" cy="438912"/>
          </a:xfrm>
          <a:prstGeom prst="rect">
            <a:avLst/>
          </a:prstGeom>
          <a:solidFill>
            <a:srgbClr val="00D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84280" y="2926080"/>
            <a:ext cx="804672" cy="438912"/>
          </a:xfrm>
          <a:prstGeom prst="rect">
            <a:avLst/>
          </a:prstGeom>
          <a:solidFill>
            <a:srgbClr val="00D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84280" y="3931920"/>
            <a:ext cx="804672" cy="438912"/>
          </a:xfrm>
          <a:prstGeom prst="rect">
            <a:avLst/>
          </a:prstGeom>
          <a:solidFill>
            <a:srgbClr val="00D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25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3000" b="1">
                <a:solidFill>
                  <a:srgbClr val="00A89C"/>
                </a:solidFill>
                <a:latin typeface="Calibri"/>
              </a:rPr>
              <a:t>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042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6E5E"/>
                </a:solidFill>
                <a:latin typeface="Calibri"/>
              </a:rPr>
              <a:t>Shaping the Future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907792"/>
            <a:ext cx="4389120" cy="36576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0175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6E5E"/>
                </a:solidFill>
                <a:latin typeface="Calibri"/>
              </a:rPr>
              <a:t>NewAge Innovators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204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6E5E"/>
                </a:solidFill>
                <a:latin typeface="Calibri"/>
              </a:rPr>
              <a:t>AI Saver Agent for Gig Workers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029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E5E"/>
                </a:solidFill>
                <a:latin typeface="Calibri"/>
              </a:rPr>
              <a:t>Grab Family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2395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52395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B2D8B"/>
                </a:solidFill>
                <a:latin typeface="Calibri"/>
              </a:rPr>
              <a:t>GxS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3825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006E5E"/>
                </a:solidFill>
                <a:latin typeface="Calibri"/>
              </a:rPr>
              <a:t>Platform Partner  unstop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Team: NewAge Innovators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A89C"/>
                </a:solidFill>
                <a:latin typeface="Calibri"/>
              </a:rPr>
              <a:t>AI Saver Agent for Gig Workers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35204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3520440" cy="7315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54480" y="2240280"/>
            <a:ext cx="1508760" cy="1508760"/>
          </a:xfrm>
          <a:prstGeom prst="ellipse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514600"/>
            <a:ext cx="1508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6E5E"/>
                </a:solidFill>
                <a:latin typeface="Calibri"/>
              </a:rPr>
              <a:t>Naman Goyal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Team Lead / Product &amp;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7" y="2011680"/>
            <a:ext cx="35204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7407" y="2011680"/>
            <a:ext cx="3520440" cy="7315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13248" y="2240280"/>
            <a:ext cx="1508760" cy="1508760"/>
          </a:xfrm>
          <a:prstGeom prst="ellipse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3248" y="2514600"/>
            <a:ext cx="1508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6E5E"/>
                </a:solidFill>
                <a:latin typeface="Calibri"/>
              </a:rPr>
              <a:t>Suyash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407408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AI / ML Engineer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66175" y="2011680"/>
            <a:ext cx="35204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66175" y="2011680"/>
            <a:ext cx="3520440" cy="7315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72015" y="2240280"/>
            <a:ext cx="1508760" cy="1508760"/>
          </a:xfrm>
          <a:prstGeom prst="ellipse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5" y="2514600"/>
            <a:ext cx="1508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MV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393192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6E5E"/>
                </a:solidFill>
                <a:latin typeface="Calibri"/>
              </a:rPr>
              <a:t>Mridul Verma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4407408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Full-Stack Developer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577840" cy="23774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109728" cy="2377440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9047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Irregular Income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47672"/>
            <a:ext cx="5166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Gig workers face unpredictable, volatile earnings making savings planning nearly impossible.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577840" cy="23774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109728" cy="2377440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9047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No Safety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947672"/>
            <a:ext cx="5166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No employer-backed benefits – one bad week can wipe out a gig worker's financial stability.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31920"/>
            <a:ext cx="5577840" cy="23774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31920"/>
            <a:ext cx="109728" cy="2377440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96511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Low Financial Literacy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5166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Limited access to personalised guidance leaves workers unaware of savings opportunities.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931920"/>
            <a:ext cx="5577840" cy="23774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931920"/>
            <a:ext cx="109728" cy="2377440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096511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Missed Micro-Savings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553712"/>
            <a:ext cx="5166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High-frequency trips generate untapped moments for automated, frictionless micro-savings.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Our Solution: AI Saver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An intelligent AI agent embedded in the Grab SuperApp that helps gig workers auto-save into GXS accounts through personalised micro-savings rules, behavioural nudges, and real-time income analytics.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Smart Savings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79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Conversational AI understands income patterns and auto-saves via configurable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10312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677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Income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97479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Real-time dashboard of earnings, trends, and savings progress across Grab services.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10312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10312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2677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Goal-Based Savings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697479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Set goals (emergency fund, insurance, festival) with AI-driven milestones.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5196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1655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Behavioural Nudges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46320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Context-aware push notifications post-trip, on payday, or during low-activity periods.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425196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425196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41655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GXS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846320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One-tap deposit into GXS savings pots with competitive interest rates.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251960"/>
            <a:ext cx="365760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4251960"/>
            <a:ext cx="3657600" cy="64008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441655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Gamification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846320"/>
            <a:ext cx="3383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Streaks, badges, and leaderboards to build consistent saving habits.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Technical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47120" cy="107899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28016" cy="107899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17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A89C"/>
                </a:solidFill>
                <a:latin typeface="Calibri"/>
              </a:rPr>
              <a:t>User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Grab SuperApp  ·  Driver &amp; Delivery Partner Interface  ·  React 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77439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A89C"/>
                </a:solidFill>
                <a:latin typeface="Calibri"/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87752"/>
            <a:ext cx="11247120" cy="107899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28016" cy="1078992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791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6E5E"/>
                </a:solidFill>
                <a:latin typeface="Calibri"/>
              </a:rPr>
              <a:t>AI Agent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90672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Conversational Agent  ·  Income Analyser  ·  Nudge Engine  ·  Goal Tracker  (LangChain / Claude 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63931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A89C"/>
                </a:solidFill>
                <a:latin typeface="Calibri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9624"/>
            <a:ext cx="11247120" cy="107899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9624"/>
            <a:ext cx="128016" cy="1078992"/>
          </a:xfrm>
          <a:prstGeom prst="rect">
            <a:avLst/>
          </a:prstGeom>
          <a:solidFill>
            <a:srgbClr val="00D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4106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D4D0"/>
                </a:solidFill>
                <a:latin typeface="Calibri"/>
              </a:rPr>
              <a:t>Data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5254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Grab Trip Data  ·  GXS Transaction API  ·  User Profiles  ·  Redis Cache  ·  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901183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A89C"/>
                </a:solidFill>
                <a:latin typeface="Calibri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11496"/>
            <a:ext cx="11247120" cy="107899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111496"/>
            <a:ext cx="128016" cy="1078992"/>
          </a:xfrm>
          <a:prstGeom prst="rect">
            <a:avLst/>
          </a:prstGeom>
          <a:solidFill>
            <a:srgbClr val="00B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20293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14F"/>
                </a:solidFill>
                <a:latin typeface="Calibri"/>
              </a:rPr>
              <a:t>Banking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1441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GXS Bank API  ·  Savings Pots  ·  Interest Engine  ·  KYC /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6E5E"/>
                </a:solidFill>
                <a:latin typeface="Calibri"/>
              </a:rPr>
              <a:t>Stack: Python · FastAPI · LangChain · Claude API · PostgreSQL · Redis · React 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Impact &amp; Value Proposition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697480" cy="1874519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514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8F000"/>
                </a:solidFill>
                <a:latin typeface="Calibri"/>
              </a:rPr>
              <a:t>3M+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677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Grab gig workers
across SEA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325880"/>
            <a:ext cx="2697480" cy="1874519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417320"/>
            <a:ext cx="2514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8F000"/>
                </a:solidFill>
                <a:latin typeface="Calibri"/>
              </a:rP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677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Income volatility
for gig workers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325880"/>
            <a:ext cx="2697480" cy="1874519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2514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8F000"/>
                </a:solidFill>
                <a:latin typeface="Calibri"/>
              </a:rPr>
              <a:t>8x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677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Higher savings rate
with AI nudges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325880"/>
            <a:ext cx="2697480" cy="1874519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417320"/>
            <a:ext cx="2514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C8F000"/>
                </a:solidFill>
                <a:latin typeface="Calibri"/>
              </a:rPr>
              <a:t>$500M+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2677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GXS deposit
growth potential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5577840" cy="29260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5577840" cy="7315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5478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For Gig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Build financial resilience with zero friction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6344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Personalised savings plans aligned to income cycles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Access to GXS high-yield savings accounts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429000"/>
            <a:ext cx="5577840" cy="29260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3429000"/>
            <a:ext cx="5577840" cy="73152"/>
          </a:xfrm>
          <a:prstGeom prst="rect">
            <a:avLst/>
          </a:prstGeom>
          <a:solidFill>
            <a:srgbClr val="00A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478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For Grab / GxS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2336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Increase GXS deposit book &amp; ARPU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66344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Deepen platform stickiness &amp; worker loyalty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30352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 ESG impact: financial inclusion for the underserved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914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14F"/>
                </a:solidFill>
                <a:latin typeface="Calibri"/>
              </a:rPr>
              <a:t>Grab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914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6E5E"/>
                </a:solidFill>
                <a:latin typeface="Calibri"/>
              </a:rPr>
              <a:t>GrabHack</a:t>
            </a:r>
            <a:r>
              <a:rPr sz="1100" b="0">
                <a:solidFill>
                  <a:srgbClr val="006E5E"/>
                </a:solidFill>
                <a:latin typeface="Calibri"/>
              </a:rPr>
              <a:t>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6E5E"/>
                </a:solidFill>
                <a:latin typeface="Calibri"/>
              </a:rPr>
              <a:t>Go-To-Market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1247120" cy="4572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50749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3657600" cy="777240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71600"/>
            <a:ext cx="3337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F000"/>
                </a:solidFill>
                <a:latin typeface="Calibri"/>
              </a:rPr>
              <a:t>Phase 1
Month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17627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MVP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97480"/>
            <a:ext cx="33375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5,000 Grab drivers – Singapore
• Basic income analytics
• Manual savings rules
• GXS pot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520440"/>
            <a:ext cx="347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A89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325880"/>
            <a:ext cx="3657600" cy="50749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325880"/>
            <a:ext cx="3657600" cy="777240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1371600"/>
            <a:ext cx="3337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F000"/>
                </a:solidFill>
                <a:latin typeface="Calibri"/>
              </a:rPr>
              <a:t>Phase 2
Month 4–6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1" y="217627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AI Enhancement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2697480"/>
            <a:ext cx="33375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Natural-language AI agent
• Smart micro-savings automation
• Goal-based pots &amp; nudge engine
• Behaviour analytics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520440"/>
            <a:ext cx="347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A89C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325880"/>
            <a:ext cx="3657600" cy="50749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1325880"/>
            <a:ext cx="3657600" cy="777240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2" y="1371600"/>
            <a:ext cx="3337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F000"/>
                </a:solidFill>
                <a:latin typeface="Calibri"/>
              </a:rPr>
              <a:t>Phase 3
Month 7–12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2176272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E5E"/>
                </a:solidFill>
                <a:latin typeface="Calibri"/>
              </a:rPr>
              <a:t>Scale &amp; Expand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2697480"/>
            <a:ext cx="333756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All gig workers in SG
• Rollout: MY, ID, PH
• Gamification &amp; community
• Insurance micro-products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212080" y="-228600"/>
            <a:ext cx="6949440" cy="6949440"/>
          </a:xfrm>
          <a:prstGeom prst="ellipse">
            <a:avLst/>
          </a:prstGeom>
          <a:noFill/>
          <a:ln w="50800">
            <a:solidFill>
              <a:srgbClr val="00D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126480" y="685800"/>
            <a:ext cx="5120640" cy="5120640"/>
          </a:xfrm>
          <a:prstGeom prst="ellipse">
            <a:avLst/>
          </a:prstGeom>
          <a:noFill/>
          <a:ln w="50800">
            <a:solidFill>
              <a:srgbClr val="00A8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40880" y="1600199"/>
            <a:ext cx="3291840" cy="3291840"/>
          </a:xfrm>
          <a:prstGeom prst="ellipse">
            <a:avLst/>
          </a:prstGeom>
          <a:noFill/>
          <a:ln w="44450">
            <a:solidFill>
              <a:srgbClr val="00D4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0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r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09360"/>
            <a:ext cx="6583680" cy="548640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C8F000"/>
                </a:solidFill>
                <a:latin typeface="Calibri"/>
              </a:rPr>
              <a:t>GrabHack 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5943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NewAge Innovators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D4D0"/>
                </a:solidFill>
                <a:latin typeface="Calibri"/>
              </a:rPr>
              <a:t>AI Saver Agent for Gig Workers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17520"/>
            <a:ext cx="4114800" cy="54864"/>
          </a:xfrm>
          <a:prstGeom prst="rect">
            <a:avLst/>
          </a:prstGeom>
          <a:solidFill>
            <a:srgbClr val="C8F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15468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Empowering gig workers to save smarter,
live better, and build financial resilience.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8F000"/>
                </a:solidFill>
                <a:latin typeface="Calibri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276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6E5E"/>
                </a:solidFill>
                <a:latin typeface="Calibri"/>
              </a:rPr>
              <a:t>Grab  |  GxS  |  Platform Partner: unstop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